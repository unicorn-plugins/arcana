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9uRse6OV7yIze8jIJfuCPPwu+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91C670-B8D5-4DCA-8C13-78550A2011AF}">
  <a:tblStyle styleId="{B791C670-B8D5-4DCA-8C13-78550A2011A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1833c7f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1833c7f4d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fbb15942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9fbb15942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3" name="Google Shape;23;p17"/>
          <p:cNvCxnSpPr/>
          <p:nvPr/>
        </p:nvCxnSpPr>
        <p:spPr>
          <a:xfrm>
            <a:off x="727164" y="107580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>
  <p:cSld name="제목만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34" name="Google Shape;34;p19"/>
          <p:cNvCxnSpPr/>
          <p:nvPr/>
        </p:nvCxnSpPr>
        <p:spPr>
          <a:xfrm>
            <a:off x="727164" y="1094874"/>
            <a:ext cx="1057701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1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788581" y="136525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</a:pPr>
            <a:r>
              <a:rPr lang="ko-KR"/>
              <a:t>전투 컨셉 기획서</a:t>
            </a:r>
            <a:endParaRPr/>
          </a:p>
        </p:txBody>
      </p:sp>
      <p:sp>
        <p:nvSpPr>
          <p:cNvPr id="45" name="Google Shape;45;p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r>
              <a:rPr lang="ko-KR"/>
              <a:t>Light life 202313190 장보성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변경사항</a:t>
            </a:r>
            <a:endParaRPr/>
          </a:p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757872" y="107580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변경된 내용 정리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52" name="Google Shape;52;p2"/>
          <p:cNvGraphicFramePr/>
          <p:nvPr/>
        </p:nvGraphicFramePr>
        <p:xfrm>
          <a:off x="1280636" y="150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{B791C670-B8D5-4DCA-8C13-78550A2011AF}</a:tableStyleId>
              </a:tblPr>
              <a:tblGrid>
                <a:gridCol w="1427175"/>
                <a:gridCol w="1071950"/>
                <a:gridCol w="7131600"/>
              </a:tblGrid>
              <a:tr h="35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일시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작업자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변경 사항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3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2026.03.08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컨투 컨셉 기획 방향성 작성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2026.03.09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플레이어 전투 경험 기획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2026.03.10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전투내의 재미요소 및 전략의 재미를 위한 전략 추가요소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2026.03.11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 u="none" cap="none" strike="noStrike"/>
                        <a:t>장보성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cap="none" strike="noStrike"/>
                        <a:t>전투의 탬포 및 게임 컨셉 특성에 따른 게임의 컨셉 지정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4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2026.03.12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r>
                        <a:rPr lang="ko-KR" sz="1800"/>
                        <a:t>장보성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/>
                        <a:t>피드백 내용에 따른 수정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문서 개요</a:t>
            </a:r>
            <a:endParaRPr/>
          </a:p>
        </p:txBody>
      </p:sp>
      <p:sp>
        <p:nvSpPr>
          <p:cNvPr id="58" name="Google Shape;58;p3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게임의 핵심 콘텐츠인 전투의 컨셉을 지정하는 문서</a:t>
            </a:r>
            <a:br>
              <a:rPr lang="ko-KR"/>
            </a:b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 템포, 플레이 방식, 캐릭터 역할, 카드 구조</a:t>
            </a:r>
            <a:r>
              <a:rPr lang="ko-KR"/>
              <a:t>를 통합적으로 설계한다.</a:t>
            </a:r>
            <a:br>
              <a:rPr lang="ko-KR"/>
            </a:b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 자체에서의 재미요소 따른 방향성 지정 문서!!!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Char char="•"/>
            </a:pPr>
            <a:r>
              <a:rPr b="1" lang="ko-KR">
                <a:solidFill>
                  <a:srgbClr val="7030A0"/>
                </a:solidFill>
              </a:rPr>
              <a:t>전투 밸런싱은 따로 분리할 예정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컨셉</a:t>
            </a:r>
            <a:endParaRPr/>
          </a:p>
        </p:txBody>
      </p:sp>
      <p:sp>
        <p:nvSpPr>
          <p:cNvPr id="64" name="Google Shape;64;p4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불완전한 카드 드로우 속에서 덱 시너지와 전략 판단으로 매 턴 퍼즐을 해결하는 로그라이크 카드 전투 시스템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전투의 핵심 </a:t>
            </a:r>
            <a:r>
              <a:rPr lang="ko-KR"/>
              <a:t>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빠른 전투 템포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랜덤으로 들어오는 덱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캐릭터 중심 플레이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카드 기반 전투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핵심 전투 경험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매 턴 </a:t>
            </a:r>
            <a:r>
              <a:rPr b="1" lang="ko-KR"/>
              <a:t>카드 선택 → 전략 실행 → 덱 성장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랜덤 카드 획득을 통한 </a:t>
            </a:r>
            <a:r>
              <a:rPr b="1" lang="ko-KR"/>
              <a:t>빌드 다양성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 패턴 공략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내의 재미요소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전략을 짜는 재미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카드 드로우와 적 행동이 매 턴 달라짐=매 턴 새로운 전략 퍼즐을 해결하는 경험</a:t>
            </a:r>
            <a:r>
              <a:rPr lang="ko-KR"/>
              <a:t>을 하게 된다.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제한된 카드와 에너지를 활용해 최적의 전략을 찾아가는 과정</a:t>
            </a:r>
            <a:r>
              <a:rPr lang="ko-KR"/>
              <a:t>에서 발생한다.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자신의 전략을 통해 충분한 데미지나 원하는 결과가 나왔을 때의 재미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성장을 직접적으로 느낄 수 있는 재미요소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노드를 진행을 통해 성장한 플레이어의 전투를 통해서 성장의 피드백을 받음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사용 가능한 코스트 등이 늘어남으로 자신의 턴에 여러 번 딜을 넣는 자유로움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핵심 구조</a:t>
            </a:r>
            <a:endParaRPr/>
          </a:p>
        </p:txBody>
      </p:sp>
      <p:sp>
        <p:nvSpPr>
          <p:cNvPr id="76" name="Google Shape;76;p6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전투내에 일어나는 플로우 차트</a:t>
            </a:r>
            <a:endParaRPr b="1"/>
          </a:p>
        </p:txBody>
      </p:sp>
      <p:grpSp>
        <p:nvGrpSpPr>
          <p:cNvPr id="77" name="Google Shape;77;p6"/>
          <p:cNvGrpSpPr/>
          <p:nvPr/>
        </p:nvGrpSpPr>
        <p:grpSpPr>
          <a:xfrm>
            <a:off x="2924803" y="1726946"/>
            <a:ext cx="8766745" cy="5131053"/>
            <a:chOff x="3966762" y="2042771"/>
            <a:chExt cx="7521230" cy="4402070"/>
          </a:xfrm>
        </p:grpSpPr>
        <p:grpSp>
          <p:nvGrpSpPr>
            <p:cNvPr id="78" name="Google Shape;78;p6"/>
            <p:cNvGrpSpPr/>
            <p:nvPr/>
          </p:nvGrpSpPr>
          <p:grpSpPr>
            <a:xfrm>
              <a:off x="3966762" y="2042771"/>
              <a:ext cx="7521230" cy="4402070"/>
              <a:chOff x="3392265" y="1253331"/>
              <a:chExt cx="8345794" cy="5181344"/>
            </a:xfrm>
          </p:grpSpPr>
          <p:pic>
            <p:nvPicPr>
              <p:cNvPr id="79" name="Google Shape;79;p6"/>
              <p:cNvPicPr preferRelativeResize="0"/>
              <p:nvPr/>
            </p:nvPicPr>
            <p:blipFill rotWithShape="1">
              <a:blip r:embed="rId3">
                <a:alphaModFix/>
              </a:blip>
              <a:srcRect b="3431" l="4589" r="2451" t="4938"/>
              <a:stretch/>
            </p:blipFill>
            <p:spPr>
              <a:xfrm>
                <a:off x="3392265" y="1253331"/>
                <a:ext cx="8345794" cy="51813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0" name="Google Shape;80;p6"/>
              <p:cNvSpPr/>
              <p:nvPr/>
            </p:nvSpPr>
            <p:spPr>
              <a:xfrm>
                <a:off x="5692775" y="5492750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>
                <a:noFill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6556375" y="5492750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>
                <a:noFill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>
                <a:off x="10034269" y="3863339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>
                <a:noFill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9200429" y="3863339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>
                <a:noFill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4" name="Google Shape;84;p6"/>
              <p:cNvSpPr/>
              <p:nvPr/>
            </p:nvSpPr>
            <p:spPr>
              <a:xfrm>
                <a:off x="10904219" y="3863339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>
                <a:noFill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8256269" y="5031739"/>
                <a:ext cx="601663" cy="174625"/>
              </a:xfrm>
              <a:prstGeom prst="roundRect">
                <a:avLst>
                  <a:gd fmla="val 16667" name="adj"/>
                </a:avLst>
              </a:prstGeom>
              <a:solidFill>
                <a:srgbClr val="A02B93">
                  <a:alpha val="36078"/>
                </a:srgbClr>
              </a:solidFill>
              <a:ln cap="flat" cmpd="sng" w="22200">
                <a:solidFill>
                  <a:srgbClr val="59595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275" lIns="106550" spcFirstLastPara="1" rIns="106550" wrap="square" tIns="53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98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6" name="Google Shape;86;p6"/>
              <p:cNvSpPr txBox="1"/>
              <p:nvPr/>
            </p:nvSpPr>
            <p:spPr>
              <a:xfrm>
                <a:off x="8857932" y="4995940"/>
                <a:ext cx="2395955" cy="289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3275" lIns="106550" spcFirstLastPara="1" rIns="106550" wrap="square" tIns="53275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ko-KR" sz="1165" u="none" cap="none" strike="noStrike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: 전투 외의 루프</a:t>
                </a:r>
                <a:endParaRPr sz="1631"/>
              </a:p>
            </p:txBody>
          </p:sp>
        </p:grpSp>
        <p:sp>
          <p:nvSpPr>
            <p:cNvPr id="87" name="Google Shape;87;p6"/>
            <p:cNvSpPr/>
            <p:nvPr/>
          </p:nvSpPr>
          <p:spPr>
            <a:xfrm>
              <a:off x="8269071" y="4741256"/>
              <a:ext cx="717047" cy="148357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220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275" lIns="106550" spcFirstLastPara="1" rIns="106550" wrap="square" tIns="53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82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아군 코스트 획득</a:t>
              </a:r>
              <a:endParaRPr sz="1631"/>
            </a:p>
          </p:txBody>
        </p:sp>
      </p:grpSp>
      <p:sp>
        <p:nvSpPr>
          <p:cNvPr id="88" name="Google Shape;88;p6"/>
          <p:cNvSpPr txBox="1"/>
          <p:nvPr/>
        </p:nvSpPr>
        <p:spPr>
          <a:xfrm>
            <a:off x="1117775" y="-1700575"/>
            <a:ext cx="518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경험 스토리보드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135466" y="1253331"/>
            <a:ext cx="10515600" cy="402214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플레이어의 경험을 예상하여 제작한 전투 스토리보드</a:t>
            </a:r>
            <a:endParaRPr/>
          </a:p>
        </p:txBody>
      </p:sp>
      <p:pic>
        <p:nvPicPr>
          <p:cNvPr descr="스크린샷, 텍스트, 득점판이(가) 표시된 사진&#10;&#10;AI 생성 콘텐츠는 정확하지 않을 수 있습니다.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38" y="1780709"/>
            <a:ext cx="11921067" cy="17490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 txBox="1"/>
          <p:nvPr/>
        </p:nvSpPr>
        <p:spPr>
          <a:xfrm>
            <a:off x="0" y="4409789"/>
            <a:ext cx="9537595" cy="402214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 스토리보드를 반복하며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효율적인 카드 사용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으로 쉬워지는 전투 중에도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성장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하는 느낌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플레이어에게 </a:t>
            </a: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지속적인 몰입감과 사고 기반 재미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제공한다.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자신의 판단이 전투 결과에 직접 영향을 미친다는 느낌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받아야 함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구조에 따른 재미요소(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인지적 재미요소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8615" y="4988065"/>
            <a:ext cx="2804902" cy="186993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/>
          <p:nvPr/>
        </p:nvSpPr>
        <p:spPr>
          <a:xfrm rot="10800000">
            <a:off x="6642099" y="3557645"/>
            <a:ext cx="4737205" cy="677025"/>
          </a:xfrm>
          <a:prstGeom prst="uturnArrow">
            <a:avLst>
              <a:gd fmla="val 25000" name="adj1"/>
              <a:gd fmla="val 25000" name="adj2"/>
              <a:gd fmla="val 32555" name="adj3"/>
              <a:gd fmla="val 43750" name="adj4"/>
              <a:gd fmla="val 99678" name="adj5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8029626" y="3896157"/>
            <a:ext cx="2268062" cy="53975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종료까지 반복</a:t>
            </a:r>
            <a:endParaRPr/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491" y="5982961"/>
            <a:ext cx="5306402" cy="639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특수 카드 경험</a:t>
            </a:r>
            <a:endParaRPr/>
          </a:p>
        </p:txBody>
      </p:sp>
      <p:sp>
        <p:nvSpPr>
          <p:cNvPr id="106" name="Google Shape;106;p8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적을 처치한 보상</a:t>
            </a:r>
            <a:r>
              <a:rPr lang="ko-KR"/>
              <a:t>으로서 주어지는 비영구적인 무료 카드다</a:t>
            </a:r>
            <a:r>
              <a:rPr b="1" lang="ko-KR"/>
              <a:t>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특수 카드로 플레이어 목표 경험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적을 처치한 보상에 대한 만족감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처치를 통해 떨어지는 추가적인 공격수단으로서 전략요소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시너지 조합을 자유롭게 이용 가능해 시너지 조합이 더 쉬워지는 보상  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자신이 싫어하는 적의 카드를 그대로 적에게 되돌려주는 복수를 통한 쾌감</a:t>
            </a:r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250" y="1764175"/>
            <a:ext cx="6777226" cy="20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내의 전략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788581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불완전한 카드 드로우</a:t>
            </a:r>
            <a:r>
              <a:rPr lang="ko-KR"/>
              <a:t> 속에서 덱 시너지와 전략 판단으로 </a:t>
            </a:r>
            <a:r>
              <a:rPr b="1" lang="ko-KR"/>
              <a:t>매 턴 퍼즐을 해결</a:t>
            </a:r>
            <a:r>
              <a:rPr lang="ko-KR"/>
              <a:t>하는 전투 시스템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카드 덱을 기반으로 전투 전략을 구성함 </a:t>
            </a:r>
            <a:r>
              <a:rPr b="1" lang="ko-KR"/>
              <a:t>확률·전략·자원관리</a:t>
            </a:r>
            <a:r>
              <a:rPr lang="ko-KR"/>
              <a:t>를 핵심 플레이 요소로 삼는다.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전략을 짜 효율적으로 승리 하는 걸 목표로 삼게 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전략을 통한 재미요소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 자체에서 전략을 짜게 하여 빠른 몰입감을 느끼게 함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전투내의 전략으로 플레이어는 인지적 재미를 느낌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전투내의 고려할 전략요소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현재 사용 가능한 카드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코스트 관리, </a:t>
            </a:r>
            <a:r>
              <a:rPr lang="ko-KR"/>
              <a:t>궁극기 게이지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정방향 역방향의 </a:t>
            </a:r>
            <a:r>
              <a:rPr lang="ko-KR"/>
              <a:t>스킬 사용 우선순위 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자원 설계</a:t>
            </a:r>
            <a:endParaRPr/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788581" y="1253331"/>
            <a:ext cx="1102643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제한된 자원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플레이어는 해당 턴에 생성된 </a:t>
            </a:r>
            <a:r>
              <a:rPr lang="ko-KR"/>
              <a:t>코스트내의 스킬을 사용할 수 있음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제한된 코스트로 플레이어에게 전략적인 선택을 요구함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후반의 용도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코스트가 늘어남에 따라 플레이어는 사용할 수 있는 스킬 종류가 늘어나며 더 많은 스킬을 사용 할 수 있게됨.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플레이어는 더 자유롭게 스킬을 사용하며 플레이를 하기 원할 것 이며 성장의 보상으로 제공함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 윤회보다 자유로운 전투를 위해 윤회를 여러 번 하는 동력원이 된다.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833c7f4d_0_17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시너지</a:t>
            </a:r>
            <a:endParaRPr/>
          </a:p>
        </p:txBody>
      </p:sp>
      <p:sp>
        <p:nvSpPr>
          <p:cNvPr id="125" name="Google Shape;125;g3d1833c7f4d_0_17"/>
          <p:cNvSpPr txBox="1"/>
          <p:nvPr>
            <p:ph idx="1" type="body"/>
          </p:nvPr>
        </p:nvSpPr>
        <p:spPr>
          <a:xfrm>
            <a:off x="788581" y="1253331"/>
            <a:ext cx="11026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제한된 자원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플레이어는 해당 턴에 생성된 코스트내의 스킬을 사용할 수 있음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제한된 코스트로 플레이어에게 전략적인 선택을 요구함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후반의 용도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코스트가 늘어남에 따라 플레이어는 사용할 수 있는 스킬 종류가 늘어나며 더 많은 스킬을 사용 할 수 있게됨.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플레이어는 더 자유롭게 스킬을 사용하며 플레이를 하기 원할 것 이며 성장의 보상으로 제공함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 윤회보다 자유로운 전투를 위해 윤회를 여러 번 하는 동력원이 된다.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9fbb15942_1_7"/>
          <p:cNvSpPr txBox="1"/>
          <p:nvPr>
            <p:ph type="title"/>
          </p:nvPr>
        </p:nvSpPr>
        <p:spPr>
          <a:xfrm>
            <a:off x="757872" y="235260"/>
            <a:ext cx="105156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인지적 재미요소</a:t>
            </a:r>
            <a:endParaRPr/>
          </a:p>
        </p:txBody>
      </p:sp>
      <p:sp>
        <p:nvSpPr>
          <p:cNvPr id="131" name="Google Shape;131;g3d9fbb15942_1_7"/>
          <p:cNvSpPr txBox="1"/>
          <p:nvPr>
            <p:ph idx="1" type="body"/>
          </p:nvPr>
        </p:nvSpPr>
        <p:spPr>
          <a:xfrm>
            <a:off x="3796673" y="1326223"/>
            <a:ext cx="8235300" cy="3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랜덤으로 변하는 상황에 따라 예상하고 다른 전략을 짬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달라진 상황에 따라 성공적인 대처에 대한 </a:t>
            </a:r>
            <a:r>
              <a:rPr b="1" lang="ko-KR"/>
              <a:t>피드백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선택하고 그에 따른 결과를 받아 </a:t>
            </a:r>
            <a:r>
              <a:rPr b="1" lang="ko-KR"/>
              <a:t>몰입감 높힘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자신의 선택으로 </a:t>
            </a:r>
            <a:r>
              <a:rPr b="1" lang="ko-KR"/>
              <a:t>어려운 도전을 클리어</a:t>
            </a:r>
            <a:r>
              <a:rPr lang="ko-KR"/>
              <a:t> 함에 대한 </a:t>
            </a:r>
            <a:r>
              <a:rPr b="1" lang="ko-KR"/>
              <a:t>카타르시스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32" name="Google Shape;132;g3d9fbb15942_1_7"/>
          <p:cNvGrpSpPr/>
          <p:nvPr/>
        </p:nvGrpSpPr>
        <p:grpSpPr>
          <a:xfrm>
            <a:off x="533920" y="1555236"/>
            <a:ext cx="2670600" cy="4122300"/>
            <a:chOff x="533920" y="1555236"/>
            <a:chExt cx="2670600" cy="4122300"/>
          </a:xfrm>
        </p:grpSpPr>
        <p:sp>
          <p:nvSpPr>
            <p:cNvPr id="133" name="Google Shape;133;g3d9fbb15942_1_7"/>
            <p:cNvSpPr/>
            <p:nvPr/>
          </p:nvSpPr>
          <p:spPr>
            <a:xfrm>
              <a:off x="533920" y="1555236"/>
              <a:ext cx="2670600" cy="4122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4" name="Google Shape;134;g3d9fbb15942_1_7"/>
            <p:cNvSpPr txBox="1"/>
            <p:nvPr/>
          </p:nvSpPr>
          <p:spPr>
            <a:xfrm>
              <a:off x="1126204" y="3082445"/>
              <a:ext cx="1485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확률 요소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g3d9fbb15942_1_7"/>
            <p:cNvSpPr txBox="1"/>
            <p:nvPr/>
          </p:nvSpPr>
          <p:spPr>
            <a:xfrm>
              <a:off x="819374" y="3792522"/>
              <a:ext cx="2099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Malgun Gothic"/>
                <a:buNone/>
              </a:pPr>
              <a:r>
                <a:rPr lang="ko-KR" sz="1800">
                  <a:latin typeface="Malgun Gothic"/>
                  <a:ea typeface="Malgun Gothic"/>
                  <a:cs typeface="Malgun Gothic"/>
                  <a:sym typeface="Malgun Gothic"/>
                </a:rPr>
                <a:t>전략을 짜고 결과를 확인함</a:t>
              </a:r>
              <a:r>
                <a:rPr b="0" i="0" lang="ko-KR" sz="1800" u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</a:t>
              </a:r>
              <a:endParaRPr b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b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36" name="Google Shape;136;g3d9fbb15942_1_7"/>
            <p:cNvCxnSpPr/>
            <p:nvPr/>
          </p:nvCxnSpPr>
          <p:spPr>
            <a:xfrm>
              <a:off x="819374" y="3622149"/>
              <a:ext cx="20997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id="137" name="Google Shape;137;g3d9fbb15942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635" y="1745850"/>
            <a:ext cx="1245175" cy="12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RNG (전투내의 확률 요소) 설계 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3796673" y="1326223"/>
            <a:ext cx="8235251" cy="310139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전투 내의 확률 요소</a:t>
            </a:r>
            <a:r>
              <a:rPr lang="ko-KR"/>
              <a:t>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고정된 패턴을 없애 반복적인 플레이를 방지함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보상 결과 등에 변화를 주어 플레이어가 계속 도전하게함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고숙련도보다 운에 의한 성공 가능성을 제공해 초보자도 성취감을 느낌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콘텐츠 소모 후에도 랜덤 보상 등으로 플레이어 유지함</a:t>
            </a:r>
            <a:endParaRPr sz="1200">
              <a:solidFill>
                <a:srgbClr val="C9C9CA"/>
              </a:solidFill>
              <a:highlight>
                <a:srgbClr val="1C1C1D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플레이 중 확률로 인해 얻는 (억까)</a:t>
            </a:r>
            <a:r>
              <a:rPr b="1" lang="ko-KR"/>
              <a:t>불쾌감을</a:t>
            </a:r>
            <a:r>
              <a:rPr b="1" lang="ko-KR"/>
              <a:t> 줄여야 함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스킬은 사용할 캐릭터의 스킬은 랜덤으로 제공함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드로우 시 기본적으로 </a:t>
            </a:r>
            <a:r>
              <a:rPr lang="ko-KR"/>
              <a:t>정방향으로 </a:t>
            </a:r>
            <a:r>
              <a:rPr lang="ko-KR"/>
              <a:t>제공함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자신의 선택으로 등장 확률에 변화를 주어 확실한 이득</a:t>
            </a:r>
            <a:r>
              <a:rPr lang="ko-KR"/>
              <a:t>을 줌</a:t>
            </a:r>
            <a:endParaRPr/>
          </a:p>
          <a:p>
            <a:pPr indent="0" lvl="1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 sz="1700">
                <a:latin typeface="Arial"/>
                <a:ea typeface="Arial"/>
                <a:cs typeface="Arial"/>
                <a:sym typeface="Arial"/>
              </a:rPr>
              <a:t>확률의 중요도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</a:pPr>
            <a:r>
              <a:rPr lang="ko-KR"/>
              <a:t>운의 영향으로 인해 전략이 사라지는 걸 우선적으로 막음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144" name="Google Shape;144;p11"/>
          <p:cNvGrpSpPr/>
          <p:nvPr/>
        </p:nvGrpSpPr>
        <p:grpSpPr>
          <a:xfrm>
            <a:off x="533920" y="1555236"/>
            <a:ext cx="2670470" cy="4122325"/>
            <a:chOff x="533920" y="1555236"/>
            <a:chExt cx="2670470" cy="4122325"/>
          </a:xfrm>
        </p:grpSpPr>
        <p:sp>
          <p:nvSpPr>
            <p:cNvPr id="145" name="Google Shape;145;p11"/>
            <p:cNvSpPr/>
            <p:nvPr/>
          </p:nvSpPr>
          <p:spPr>
            <a:xfrm>
              <a:off x="533920" y="1555236"/>
              <a:ext cx="2670470" cy="41223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블랙, 어둠이(가) 표시된 사진&#10;&#10;AI 생성 콘텐츠는 정확하지 않을 수 있습니다." id="146" name="Google Shape;14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0396" y="1727673"/>
              <a:ext cx="1257517" cy="12575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1"/>
            <p:cNvSpPr txBox="1"/>
            <p:nvPr/>
          </p:nvSpPr>
          <p:spPr>
            <a:xfrm>
              <a:off x="1126204" y="3082445"/>
              <a:ext cx="14859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확률 요소</a:t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8" name="Google Shape;148;p11"/>
            <p:cNvSpPr txBox="1"/>
            <p:nvPr/>
          </p:nvSpPr>
          <p:spPr>
            <a:xfrm>
              <a:off x="819374" y="3792522"/>
              <a:ext cx="209956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Malgun Gothic"/>
                <a:buNone/>
              </a:pPr>
              <a:r>
                <a:rPr b="0" i="0" lang="ko-KR" sz="1800" u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 운에 요소가 강해 전략에 무력감을 </a:t>
              </a:r>
              <a:endParaRPr b="0" i="0" sz="1800" u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Malgun Gothic"/>
                <a:buNone/>
              </a:pPr>
              <a:r>
                <a:rPr b="0" i="0" lang="ko-KR" sz="1800" u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느끼지 않도록  </a:t>
              </a:r>
              <a:endParaRPr b="0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Malgun Gothic"/>
                <a:buNone/>
              </a:pPr>
              <a:b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49" name="Google Shape;149;p11"/>
            <p:cNvCxnSpPr/>
            <p:nvPr/>
          </p:nvCxnSpPr>
          <p:spPr>
            <a:xfrm>
              <a:off x="819374" y="3622149"/>
              <a:ext cx="209956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전투 UX 설계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3204388" y="1253331"/>
            <a:ext cx="954908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UX/UI는 전투 이해도와 전략성을 크게 영향을 끼침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가장 중요한 것은 </a:t>
            </a:r>
            <a:r>
              <a:rPr b="1" lang="ko-KR"/>
              <a:t>필요</a:t>
            </a:r>
            <a:r>
              <a:rPr lang="ko-KR"/>
              <a:t> </a:t>
            </a:r>
            <a:r>
              <a:rPr b="1" lang="ko-KR"/>
              <a:t>정보 전달과 조작 편의성</a:t>
            </a:r>
            <a:r>
              <a:rPr lang="ko-KR"/>
              <a:t>이 핵심!!!!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매 턴 </a:t>
            </a:r>
            <a:r>
              <a:rPr b="1" lang="ko-KR"/>
              <a:t>상황</a:t>
            </a:r>
            <a:r>
              <a:rPr lang="ko-KR"/>
              <a:t>을 빠르게 </a:t>
            </a:r>
            <a:r>
              <a:rPr b="1" lang="ko-KR"/>
              <a:t>이해</a:t>
            </a:r>
            <a:r>
              <a:rPr lang="ko-KR"/>
              <a:t>하고</a:t>
            </a:r>
            <a:r>
              <a:rPr b="1" lang="ko-KR"/>
              <a:t> 전략적 결정을 내릴 수 있도록 함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정보 가독성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 행동과 카드 효과를 직관적으로 이해 가능 해야함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빠른 의사결정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드래그 앤 드랍으로 원하는 대상에 바로 스킬을 사용할 수 있게함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전략 피드백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플레이어가 </a:t>
            </a:r>
            <a:r>
              <a:rPr b="1" lang="ko-KR"/>
              <a:t>어떤 행동으로 어떤 결과</a:t>
            </a:r>
            <a:r>
              <a:rPr lang="ko-KR"/>
              <a:t>가 나왔는지를 보여줘야 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스킬의 데미지 표시나 턴내에서 스킬 사용을 통한 코스트가 표기가 되어야 함 </a:t>
            </a:r>
            <a:endParaRPr/>
          </a:p>
        </p:txBody>
      </p:sp>
      <p:grpSp>
        <p:nvGrpSpPr>
          <p:cNvPr id="156" name="Google Shape;156;p12"/>
          <p:cNvGrpSpPr/>
          <p:nvPr/>
        </p:nvGrpSpPr>
        <p:grpSpPr>
          <a:xfrm>
            <a:off x="533920" y="1555236"/>
            <a:ext cx="2670470" cy="4122325"/>
            <a:chOff x="533920" y="1555236"/>
            <a:chExt cx="2670470" cy="4122325"/>
          </a:xfrm>
        </p:grpSpPr>
        <p:sp>
          <p:nvSpPr>
            <p:cNvPr id="157" name="Google Shape;157;p12"/>
            <p:cNvSpPr/>
            <p:nvPr/>
          </p:nvSpPr>
          <p:spPr>
            <a:xfrm>
              <a:off x="533920" y="1555236"/>
              <a:ext cx="2670470" cy="4122325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58" name="Google Shape;158;p12"/>
            <p:cNvSpPr txBox="1"/>
            <p:nvPr/>
          </p:nvSpPr>
          <p:spPr>
            <a:xfrm>
              <a:off x="779024" y="3101635"/>
              <a:ext cx="22826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정보에 정확한 이해</a:t>
              </a:r>
              <a:endParaRPr b="1"/>
            </a:p>
          </p:txBody>
        </p:sp>
        <p:sp>
          <p:nvSpPr>
            <p:cNvPr id="159" name="Google Shape;159;p12"/>
            <p:cNvSpPr txBox="1"/>
            <p:nvPr/>
          </p:nvSpPr>
          <p:spPr>
            <a:xfrm>
              <a:off x="578188" y="3817037"/>
              <a:ext cx="2483509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플레이어가 매 턴 상황을 빠르게 이해하고 </a:t>
              </a:r>
              <a:b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전략적 결정</a:t>
              </a:r>
              <a:br>
                <a:rPr lang="ko-KR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160" name="Google Shape;160;p12"/>
            <p:cNvCxnSpPr/>
            <p:nvPr/>
          </p:nvCxnSpPr>
          <p:spPr>
            <a:xfrm>
              <a:off x="819374" y="3622149"/>
              <a:ext cx="209956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pic>
        <p:nvPicPr>
          <p:cNvPr descr="블랙, 어둠이(가) 표시된 사진&#10;&#10;AI 생성 콘텐츠는 정확하지 않을 수 있습니다."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855" y="1697433"/>
            <a:ext cx="1385012" cy="1385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일반 전투 컨셉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788988" y="1252538"/>
            <a:ext cx="10515600" cy="4352925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단순 패턴 적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적은 이해하기 쉬운 패턴을 가지기에 연습장으로서 활용 가능한 스테이지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덱 테스트 환경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보스전을 위한 전투시스템을 익혀가는 전투!!!!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상대적으로 약한 적이기에  다양한 또는 공격적인 스킬로 처치할 수 있는 여유를 제공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덱 성장 경험 제공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강해진 플레이어의 피드백을 보여주는 스테이지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난 성장하고 있다!!! 라는 경험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757872" y="235260"/>
            <a:ext cx="10515600" cy="840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/>
              <a:t>보스 전투 경험</a:t>
            </a:r>
            <a:endParaRPr/>
          </a:p>
        </p:txBody>
      </p:sp>
      <p:sp>
        <p:nvSpPr>
          <p:cNvPr id="173" name="Google Shape;173;p14"/>
          <p:cNvSpPr txBox="1"/>
          <p:nvPr>
            <p:ph idx="1" type="body"/>
          </p:nvPr>
        </p:nvSpPr>
        <p:spPr>
          <a:xfrm>
            <a:off x="788580" y="1253331"/>
            <a:ext cx="114034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144000" lIns="91425" spcFirstLastPara="1" rIns="91425" wrap="square" tIns="1440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패턴 기반 전투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보스는 여러 행동 패턴을 가진다.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적에 맞춰서 공격 우선 순위, 스킬 순서 고려할 경우 더욱 쉽게 클리어 할 수 있게 함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기획의도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시너지로만 적을 효과적으로 공격한다는 전투 자체의 단순화를 맞기 위함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 처치로 더 큰 보상을 얻어 플레이어에게 </a:t>
            </a:r>
            <a:r>
              <a:rPr b="1" lang="ko-KR"/>
              <a:t>강한 성취감</a:t>
            </a:r>
            <a:r>
              <a:rPr lang="ko-KR"/>
              <a:t>을 제공용</a:t>
            </a:r>
            <a:endParaRPr/>
          </a:p>
          <a:p>
            <a:pPr indent="-1143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유의 사항</a:t>
            </a:r>
            <a:endParaRPr b="1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초반에 보스를 공략한다 자체를 이해하기 어려움 → 갑자기 높아진 난이도에 불쾌감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ko-KR"/>
              <a:t>해결방법(소거법으로 이중에 선택하면 됨)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초반 튜토리얼에 보스마다 약점이 있다는 사실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보스 전투 전에 </a:t>
            </a:r>
            <a:r>
              <a:rPr b="1" lang="ko-KR"/>
              <a:t>보스 특징을 미리 알려주는 시스템</a:t>
            </a:r>
            <a:r>
              <a:rPr lang="ko-KR"/>
              <a:t>을 제공한다.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전투 패턴 시각화 </a:t>
            </a:r>
            <a:r>
              <a:rPr b="1" lang="ko-KR"/>
              <a:t>위험한 스킬은 화살표나 느낌표등 공격 대상이나 스킬 유형 표기</a:t>
            </a:r>
            <a:endParaRPr b="1"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ko-KR"/>
              <a:t>약점 UI외곽 글로우로 표기등</a:t>
            </a:r>
            <a:endParaRPr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/>
          </a:p>
          <a:p>
            <a:pPr indent="-1143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승리의 여신: 니케', MG와 전격 니케 필수 기용! '크리스탈 체임버' 공략 팁 : 네이버 블로그" id="174" name="Google Shape;174;p14"/>
          <p:cNvPicPr preferRelativeResize="0"/>
          <p:nvPr/>
        </p:nvPicPr>
        <p:blipFill rotWithShape="1">
          <a:blip r:embed="rId3">
            <a:alphaModFix/>
          </a:blip>
          <a:srcRect b="36913" l="17398" r="24136" t="0"/>
          <a:stretch/>
        </p:blipFill>
        <p:spPr>
          <a:xfrm>
            <a:off x="10617751" y="5782196"/>
            <a:ext cx="1311442" cy="89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2026-03-08T09:53:34Z</dcterms:created>
  <dc:creator>HIRONARI HATA</dc:creator>
</cp:coreProperties>
</file>
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obN40HR8/2mGlrz+Sc/B5cfh9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01947C-8B74-4403-B84A-DED373EAFA65}">
  <a:tblStyle styleId="{7A01947C-8B74-4403-B84A-DED373EAFA65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3" name="Google Shape;23;p18"/>
          <p:cNvCxnSpPr/>
          <p:nvPr/>
        </p:nvCxnSpPr>
        <p:spPr>
          <a:xfrm>
            <a:off x="727164" y="1075804"/>
            <a:ext cx="1057701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>
  <p:cSld name="제목만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34" name="Google Shape;34;p20"/>
          <p:cNvCxnSpPr/>
          <p:nvPr/>
        </p:nvCxnSpPr>
        <p:spPr>
          <a:xfrm>
            <a:off x="727164" y="1094874"/>
            <a:ext cx="1057701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20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788581" y="136525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b="1" lang="ko-KR"/>
              <a:t>플레이 경험 기획서</a:t>
            </a:r>
            <a:endParaRPr/>
          </a:p>
        </p:txBody>
      </p:sp>
      <p:sp>
        <p:nvSpPr>
          <p:cNvPr id="45" name="Google Shape;45;p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rPr lang="ko-KR"/>
              <a:t>Light life 202313190 장보성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변경사항</a:t>
            </a:r>
            <a:endParaRPr/>
          </a:p>
        </p:txBody>
      </p:sp>
      <p:sp>
        <p:nvSpPr>
          <p:cNvPr id="51" name="Google Shape;51;p2"/>
          <p:cNvSpPr txBox="1"/>
          <p:nvPr>
            <p:ph idx="1" type="body"/>
          </p:nvPr>
        </p:nvSpPr>
        <p:spPr>
          <a:xfrm>
            <a:off x="757872" y="107580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변경된 내용 정리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2" name="Google Shape;52;p2"/>
          <p:cNvGraphicFramePr/>
          <p:nvPr/>
        </p:nvGraphicFramePr>
        <p:xfrm>
          <a:off x="1280636" y="150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{7A01947C-8B74-4403-B84A-DED373EAFA65}</a:tableStyleId>
              </a:tblPr>
              <a:tblGrid>
                <a:gridCol w="1427175"/>
                <a:gridCol w="1071950"/>
                <a:gridCol w="7131600"/>
              </a:tblGrid>
              <a:tr h="35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일시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작업자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변경 사항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2026.02.20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장보성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기획해야 할 항목 작성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2026.02.21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장보성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핵심 재미요소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2026.02.22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장보성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유의사항, 난이도 컨셉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2026.02.24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장보성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전체 난이도와 경험 직결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2026.02.25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장보성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전투 경험 구체화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/>
                        <a:t>2026.02.26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/>
                        <a:t>장보성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/>
                        <a:t>오타 수정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문서 개요</a:t>
            </a:r>
            <a:endParaRPr/>
          </a:p>
        </p:txBody>
      </p:sp>
      <p:sp>
        <p:nvSpPr>
          <p:cNvPr id="58" name="Google Shape;58;p3"/>
          <p:cNvSpPr txBox="1"/>
          <p:nvPr>
            <p:ph idx="1" type="body"/>
          </p:nvPr>
        </p:nvSpPr>
        <p:spPr>
          <a:xfrm>
            <a:off x="788580" y="1253331"/>
            <a:ext cx="1080601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프로젝트의 로그라이트 플레이 경험 구조를 정의함</a:t>
            </a:r>
            <a:br>
              <a:rPr lang="ko-KR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게임 전반의 설계 판단 기준이 되는 감정 설계 방향성과 구조적 원칙을 명확히 규정하기 위해 작성함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기획 의도를 통합해</a:t>
            </a:r>
            <a:r>
              <a:rPr lang="ko-KR"/>
              <a:t> 시스템,컨텐츠를 만들 수 있음!!!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 시 감정,재미요소에 영향을 토대를 제공하는 문서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시스템·밸런스 설계 이전 단계의 </a:t>
            </a:r>
            <a:r>
              <a:rPr b="1" lang="ko-KR"/>
              <a:t>경험</a:t>
            </a:r>
            <a:r>
              <a:rPr lang="ko-KR"/>
              <a:t>을 예상하고 기획!!!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플레이어 경험 비전 문서</a:t>
            </a:r>
            <a:endParaRPr/>
          </a:p>
        </p:txBody>
      </p:sp>
      <p:sp>
        <p:nvSpPr>
          <p:cNvPr id="64" name="Google Shape;64;p4"/>
          <p:cNvSpPr txBox="1"/>
          <p:nvPr>
            <p:ph idx="1" type="body"/>
          </p:nvPr>
        </p:nvSpPr>
        <p:spPr>
          <a:xfrm>
            <a:off x="757872" y="1218739"/>
            <a:ext cx="10672128" cy="3086561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핵심 유저 경험 목표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짧은 시간 안에 빌드를 완성하고, 게임오버를 해도 성장하며 불쾌감을 줄이는</a:t>
            </a:r>
            <a:br>
              <a:rPr lang="ko-KR"/>
            </a:br>
            <a:r>
              <a:rPr lang="ko-KR"/>
              <a:t>캐릭터의 성장 순간을 체험하게 한다.</a:t>
            </a:r>
            <a:endParaRPr sz="1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플레이어가 느껴야 할 경험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예측 불가능한 적이나 사건 등장으로 흥미를 떨어지지 않는</a:t>
            </a:r>
            <a:r>
              <a:rPr lang="ko-KR"/>
              <a:t> 로그라이트 경험</a:t>
            </a:r>
            <a:endParaRPr/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경험 설계 목표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전투 안에서 전략이 나오게 함!!!!!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캐릭터가 윤회하며 더욱 강해지는 </a:t>
            </a:r>
            <a:r>
              <a:rPr b="1" lang="ko-KR"/>
              <a:t>육성의 재미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플레이어의 선택에 따라 달라지는 결과를 보는 </a:t>
            </a:r>
            <a:r>
              <a:rPr b="1" lang="ko-KR"/>
              <a:t>인지적 재미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보스 및 어려운 도전을 클리어하는</a:t>
            </a:r>
            <a:r>
              <a:rPr b="1" lang="ko-KR"/>
              <a:t> 쾌감</a:t>
            </a:r>
            <a:endParaRPr b="1"/>
          </a:p>
        </p:txBody>
      </p:sp>
      <p:sp>
        <p:nvSpPr>
          <p:cNvPr id="65" name="Google Shape;65;p4"/>
          <p:cNvSpPr/>
          <p:nvPr/>
        </p:nvSpPr>
        <p:spPr>
          <a:xfrm>
            <a:off x="1193139" y="5004018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인지적 재미</a:t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2812526" y="5004018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회귀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477962" y="5004018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간단한 조작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093936" y="5004018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빠른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성장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핵심 경험 요소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390933" y="2387600"/>
            <a:ext cx="2279367" cy="385557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1369227" y="4141445"/>
            <a:ext cx="23010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캐주얼</a:t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770713" y="2387600"/>
            <a:ext cx="2279367" cy="385557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3777221" y="4141445"/>
            <a:ext cx="22793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명확한 보상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150493" y="2387600"/>
            <a:ext cx="2279367" cy="385557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6167854" y="4039618"/>
            <a:ext cx="2272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빠른 몰입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530273" y="2387600"/>
            <a:ext cx="2279367" cy="385557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8530273" y="4141445"/>
            <a:ext cx="22576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선택의 자유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2" name="Google Shape;82;p5"/>
          <p:cNvCxnSpPr/>
          <p:nvPr/>
        </p:nvCxnSpPr>
        <p:spPr>
          <a:xfrm>
            <a:off x="1603829" y="4620986"/>
            <a:ext cx="18439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" name="Google Shape;83;p5"/>
          <p:cNvCxnSpPr/>
          <p:nvPr/>
        </p:nvCxnSpPr>
        <p:spPr>
          <a:xfrm>
            <a:off x="3983609" y="4620986"/>
            <a:ext cx="18439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" name="Google Shape;84;p5"/>
          <p:cNvCxnSpPr/>
          <p:nvPr/>
        </p:nvCxnSpPr>
        <p:spPr>
          <a:xfrm>
            <a:off x="6363389" y="4620986"/>
            <a:ext cx="18439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" name="Google Shape;85;p5"/>
          <p:cNvCxnSpPr/>
          <p:nvPr/>
        </p:nvCxnSpPr>
        <p:spPr>
          <a:xfrm>
            <a:off x="8743169" y="4620986"/>
            <a:ext cx="18439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" name="Google Shape;86;p5"/>
          <p:cNvSpPr txBox="1"/>
          <p:nvPr>
            <p:ph idx="1" type="body"/>
          </p:nvPr>
        </p:nvSpPr>
        <p:spPr>
          <a:xfrm>
            <a:off x="788580" y="1253331"/>
            <a:ext cx="4099608" cy="44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중점으로 삼아야 게임의 방향성</a:t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1511300" y="4685949"/>
            <a:ext cx="205551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진입장벽을 위해 전략의 중요도를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낮춤</a:t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3872136" y="4685949"/>
            <a:ext cx="205551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승리에 대한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명확한 보상으로 동기 제공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232972" y="4685949"/>
            <a:ext cx="2055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자체의 경험을 중점으로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전략을 짜는 게임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8593808" y="4685949"/>
            <a:ext cx="2055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노드를 골라 </a:t>
            </a:r>
            <a:b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피로도를 스스로 조절할 수 있도록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</a:t>
            </a:r>
            <a:endParaRPr/>
          </a:p>
        </p:txBody>
      </p:sp>
      <p:pic>
        <p:nvPicPr>
          <p:cNvPr descr="블랙, 어둠이(가) 표시된 사진&#10;&#10;AI 생성 콘텐츠는 정확하지 않을 수 있습니다."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399" y="2730303"/>
            <a:ext cx="1202065" cy="1202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 생성 콘텐츠는 정확하지 않을 수 있습니다."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6581" y="2725293"/>
            <a:ext cx="1198491" cy="1198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 생성 콘텐츠는 정확하지 않을 수 있습니다." id="93" name="Google Shape;9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4108" y="2619268"/>
            <a:ext cx="1420350" cy="14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 생성 콘텐츠는 정확하지 않을 수 있습니다." id="94" name="Google Shape;9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38619" y="2768892"/>
            <a:ext cx="1154892" cy="115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유의해야 할 요소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222533" y="2425700"/>
            <a:ext cx="2279367" cy="385557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200827" y="4179545"/>
            <a:ext cx="23010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피로 누적</a:t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2602313" y="2425700"/>
            <a:ext cx="2279367" cy="385557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2608821" y="4179545"/>
            <a:ext cx="22793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 의존 체감 증가</a:t>
            </a:r>
            <a:endParaRPr/>
          </a:p>
        </p:txBody>
      </p:sp>
      <p:pic>
        <p:nvPicPr>
          <p:cNvPr descr="블랙, 어둠이(가) 표시된 사진&#10;&#10;AI 생성 콘텐츠는 정확하지 않을 수 있습니다."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3219" y="2620165"/>
            <a:ext cx="1457553" cy="145755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4982093" y="2425700"/>
            <a:ext cx="2279367" cy="385557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4999454" y="4077718"/>
            <a:ext cx="22728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후반 난이도 급상승 또는 붕괴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361873" y="2425700"/>
            <a:ext cx="2279367" cy="385557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7361873" y="4179545"/>
            <a:ext cx="22576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복잡한 시너지 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9741653" y="2425700"/>
            <a:ext cx="2279367" cy="385557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9741653" y="4179545"/>
            <a:ext cx="2249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 동기 약화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1" name="Google Shape;111;p6"/>
          <p:cNvCxnSpPr/>
          <p:nvPr/>
        </p:nvCxnSpPr>
        <p:spPr>
          <a:xfrm>
            <a:off x="435429" y="4659086"/>
            <a:ext cx="18439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6"/>
          <p:cNvCxnSpPr/>
          <p:nvPr/>
        </p:nvCxnSpPr>
        <p:spPr>
          <a:xfrm>
            <a:off x="2815209" y="4659086"/>
            <a:ext cx="18439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6"/>
          <p:cNvCxnSpPr/>
          <p:nvPr/>
        </p:nvCxnSpPr>
        <p:spPr>
          <a:xfrm>
            <a:off x="5194989" y="4659086"/>
            <a:ext cx="18439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" name="Google Shape;114;p6"/>
          <p:cNvCxnSpPr/>
          <p:nvPr/>
        </p:nvCxnSpPr>
        <p:spPr>
          <a:xfrm>
            <a:off x="7574769" y="4659086"/>
            <a:ext cx="18439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6"/>
          <p:cNvCxnSpPr/>
          <p:nvPr/>
        </p:nvCxnSpPr>
        <p:spPr>
          <a:xfrm>
            <a:off x="9954549" y="4659086"/>
            <a:ext cx="18439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788580" y="1253331"/>
            <a:ext cx="5101680" cy="44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프로젝트 특성상 해결해야 할 문제</a:t>
            </a:r>
            <a:endParaRPr/>
          </a:p>
        </p:txBody>
      </p:sp>
      <p:sp>
        <p:nvSpPr>
          <p:cNvPr id="117" name="Google Shape;117;p6"/>
          <p:cNvSpPr txBox="1"/>
          <p:nvPr/>
        </p:nvSpPr>
        <p:spPr>
          <a:xfrm>
            <a:off x="342900" y="4724049"/>
            <a:ext cx="205551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반복되는 전투에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빠른 피로도 누적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2703736" y="4724049"/>
            <a:ext cx="205551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운에 요소가 강해 전략에 무력감을 느끼지 않도록  </a:t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5064572" y="4724049"/>
            <a:ext cx="2055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뒤로 갈 수 록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난이도가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급상승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 않도록 함</a:t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7425408" y="4724049"/>
            <a:ext cx="205551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복잡하고 직관적이지 않은 전략은 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몰입도 저하 </a:t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9786244" y="4724049"/>
            <a:ext cx="205551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패배의 좌절감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오버에도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재도전 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만한 보상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블랙, 어둠이(가) 표시된 사진&#10;&#10;AI 생성 콘텐츠는 정확하지 않을 수 있습니다."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580" y="2725110"/>
            <a:ext cx="1247501" cy="1247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 생성 콘텐츠는 정확하지 않을 수 있습니다." id="123" name="Google Shape;12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5961" y="2725110"/>
            <a:ext cx="1140078" cy="11400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 생성 콘텐츠는 정확하지 않을 수 있습니다." id="124" name="Google Shape;12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7256" y="2643361"/>
            <a:ext cx="1318523" cy="1318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 생성 콘텐츠는 정확하지 않을 수 있습니다." id="125" name="Google Shape;12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6181" y="2592186"/>
            <a:ext cx="1477150" cy="14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윤회(코어 루프) 경험 기획 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6015672" y="2722714"/>
            <a:ext cx="5177472" cy="435776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6015672" y="1722120"/>
            <a:ext cx="5257800" cy="435776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다음 조우할 적의 난이도는 낮추는 난이도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상대적으로 약해진 적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자신이 강해졌다고 느끼게 함 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높은 피로도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전투 후 재정비 할 수 있게!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3" name="Google Shape;133;p7"/>
          <p:cNvGrpSpPr/>
          <p:nvPr/>
        </p:nvGrpSpPr>
        <p:grpSpPr>
          <a:xfrm>
            <a:off x="361950" y="2364559"/>
            <a:ext cx="5734050" cy="3343275"/>
            <a:chOff x="239079" y="1285059"/>
            <a:chExt cx="5734050" cy="3343275"/>
          </a:xfrm>
        </p:grpSpPr>
        <p:pic>
          <p:nvPicPr>
            <p:cNvPr descr="텍스트, 라인, 도표, 스크린샷이(가) 표시된 사진&#10;&#10;AI 생성 콘텐츠는 정확하지 않을 수 있습니다." id="134" name="Google Shape;13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9079" y="1285059"/>
              <a:ext cx="5734050" cy="3343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7"/>
            <p:cNvSpPr/>
            <p:nvPr/>
          </p:nvSpPr>
          <p:spPr>
            <a:xfrm>
              <a:off x="2659453" y="3728016"/>
              <a:ext cx="1901371" cy="435429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난이도 낮춤</a:t>
              </a: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1447800" y="3429000"/>
              <a:ext cx="160020" cy="16002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2270760" y="3086100"/>
              <a:ext cx="160020" cy="16002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093720" y="2743200"/>
              <a:ext cx="160020" cy="16002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723913" y="4332215"/>
              <a:ext cx="160020" cy="16002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739640" y="2057400"/>
              <a:ext cx="160020" cy="16002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562600" y="1714500"/>
              <a:ext cx="160020" cy="16002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2" name="Google Shape;142;p7"/>
            <p:cNvSpPr txBox="1"/>
            <p:nvPr/>
          </p:nvSpPr>
          <p:spPr>
            <a:xfrm>
              <a:off x="883933" y="4234927"/>
              <a:ext cx="16916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:보스와 전투</a:t>
              </a: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3893820" y="2426528"/>
              <a:ext cx="160020" cy="16002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44" name="Google Shape;144;p7"/>
            <p:cNvCxnSpPr/>
            <p:nvPr/>
          </p:nvCxnSpPr>
          <p:spPr>
            <a:xfrm>
              <a:off x="739786" y="4234927"/>
              <a:ext cx="4912961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텍스트, 스크린샷, 도표, 라인이(가) 표시된 사진&#10;&#10;AI 생성 콘텐츠는 정확하지 않을 수 있습니다." id="145" name="Google Shape;1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9020" y="3903981"/>
            <a:ext cx="5862477" cy="2656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전체 경험 기획 </a:t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6015672" y="2722714"/>
            <a:ext cx="5177472" cy="435776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015672" y="1722120"/>
            <a:ext cx="5612448" cy="435776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윤회를 통한 캐릭터의 영구적 성장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자체의 성장에 따라 플레이 난이도가 낮아지며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간단한 전략요소로 빠른 전략 학습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플레이에 따른 전략 구성의 이해도가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늘어나 플레이어 자체의 전략 성장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000" y="1869523"/>
            <a:ext cx="5507672" cy="367178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/>
          <p:nvPr/>
        </p:nvSpPr>
        <p:spPr>
          <a:xfrm>
            <a:off x="2275246" y="4066673"/>
            <a:ext cx="1973179" cy="54444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이해한 순간</a:t>
            </a:r>
            <a:endParaRPr/>
          </a:p>
        </p:txBody>
      </p:sp>
      <p:cxnSp>
        <p:nvCxnSpPr>
          <p:cNvPr id="155" name="Google Shape;155;p8"/>
          <p:cNvCxnSpPr/>
          <p:nvPr/>
        </p:nvCxnSpPr>
        <p:spPr>
          <a:xfrm rot="10800000">
            <a:off x="1913021" y="3068053"/>
            <a:ext cx="362225" cy="99862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전체 난이도 보완</a:t>
            </a:r>
            <a:endParaRPr/>
          </a:p>
        </p:txBody>
      </p:sp>
      <p:grpSp>
        <p:nvGrpSpPr>
          <p:cNvPr id="161" name="Google Shape;161;p9"/>
          <p:cNvGrpSpPr/>
          <p:nvPr/>
        </p:nvGrpSpPr>
        <p:grpSpPr>
          <a:xfrm>
            <a:off x="1992849" y="1560136"/>
            <a:ext cx="2750820" cy="4351338"/>
            <a:chOff x="6252930" y="1598596"/>
            <a:chExt cx="2750820" cy="4351338"/>
          </a:xfrm>
        </p:grpSpPr>
        <p:sp>
          <p:nvSpPr>
            <p:cNvPr id="162" name="Google Shape;162;p9"/>
            <p:cNvSpPr/>
            <p:nvPr/>
          </p:nvSpPr>
          <p:spPr>
            <a:xfrm>
              <a:off x="6252930" y="1598596"/>
              <a:ext cx="2750820" cy="4351338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3" name="Google Shape;163;p9"/>
            <p:cNvSpPr txBox="1"/>
            <p:nvPr/>
          </p:nvSpPr>
          <p:spPr>
            <a:xfrm>
              <a:off x="6282119" y="1997484"/>
              <a:ext cx="2692440" cy="2911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91425" spcFirstLastPara="1" rIns="91425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초반 진입 장벽이 매우 높음</a:t>
              </a:r>
              <a:endParaRPr/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시스템 설명 부족</a:t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라이트 유저 이탈 가능성</a:t>
              </a:r>
              <a:endParaRPr/>
            </a:p>
          </p:txBody>
        </p:sp>
        <p:sp>
          <p:nvSpPr>
            <p:cNvPr id="164" name="Google Shape;164;p9"/>
            <p:cNvSpPr txBox="1"/>
            <p:nvPr/>
          </p:nvSpPr>
          <p:spPr>
            <a:xfrm>
              <a:off x="6383428" y="1865137"/>
              <a:ext cx="2489825" cy="2911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91425" spcFirstLastPara="1" rIns="91425" wrap="square" tIns="144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한계점 분석</a:t>
              </a:r>
              <a:endParaRPr/>
            </a:p>
          </p:txBody>
        </p:sp>
      </p:grpSp>
      <p:sp>
        <p:nvSpPr>
          <p:cNvPr id="165" name="Google Shape;165;p9"/>
          <p:cNvSpPr/>
          <p:nvPr/>
        </p:nvSpPr>
        <p:spPr>
          <a:xfrm>
            <a:off x="5125453" y="3453063"/>
            <a:ext cx="1226248" cy="56548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6" name="Google Shape;166;p9"/>
          <p:cNvGrpSpPr/>
          <p:nvPr/>
        </p:nvGrpSpPr>
        <p:grpSpPr>
          <a:xfrm>
            <a:off x="6691896" y="1560136"/>
            <a:ext cx="3376757" cy="4351338"/>
            <a:chOff x="7943508" y="1842879"/>
            <a:chExt cx="3059002" cy="4351338"/>
          </a:xfrm>
        </p:grpSpPr>
        <p:sp>
          <p:nvSpPr>
            <p:cNvPr id="167" name="Google Shape;167;p9"/>
            <p:cNvSpPr/>
            <p:nvPr/>
          </p:nvSpPr>
          <p:spPr>
            <a:xfrm>
              <a:off x="7943508" y="1842879"/>
              <a:ext cx="2750820" cy="4351338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9"/>
            <p:cNvSpPr txBox="1"/>
            <p:nvPr/>
          </p:nvSpPr>
          <p:spPr>
            <a:xfrm>
              <a:off x="8008259" y="2420721"/>
              <a:ext cx="2994251" cy="2911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91425" spcFirstLastPara="1" rIns="91425" wrap="square" tIns="144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전투 학습 개선</a:t>
              </a:r>
              <a:endParaRPr/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코인 기대값 시각화</a:t>
              </a:r>
              <a:endParaRPr/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전투 튜토리얼 분리</a:t>
              </a:r>
              <a:endParaRPr/>
            </a:p>
            <a:p>
              <a:pPr indent="-1143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감정 완충 장치</a:t>
              </a:r>
              <a:endParaRPr/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게임오버 시 능력치 보정 </a:t>
              </a:r>
              <a:endParaRPr/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이전 능력치 일부 유지</a:t>
              </a:r>
              <a:endParaRPr/>
            </a:p>
          </p:txBody>
        </p:sp>
        <p:sp>
          <p:nvSpPr>
            <p:cNvPr id="169" name="Google Shape;169;p9"/>
            <p:cNvSpPr txBox="1"/>
            <p:nvPr/>
          </p:nvSpPr>
          <p:spPr>
            <a:xfrm>
              <a:off x="8138756" y="2241767"/>
              <a:ext cx="2489825" cy="2911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91425" spcFirstLastPara="1" rIns="91425" wrap="square" tIns="144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p9"/>
            <p:cNvSpPr txBox="1"/>
            <p:nvPr/>
          </p:nvSpPr>
          <p:spPr>
            <a:xfrm>
              <a:off x="8138755" y="2131800"/>
              <a:ext cx="2489825" cy="2911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91425" spcFirstLastPara="1" rIns="91425" wrap="square" tIns="144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콘텐츠 기획 관점 개선 제안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프로젝트 제작용도에 따른 UX</a:t>
            </a:r>
            <a:endParaRPr b="1"/>
          </a:p>
        </p:txBody>
      </p:sp>
      <p:sp>
        <p:nvSpPr>
          <p:cNvPr id="176" name="Google Shape;176;p10"/>
          <p:cNvSpPr txBox="1"/>
          <p:nvPr/>
        </p:nvSpPr>
        <p:spPr>
          <a:xfrm>
            <a:off x="6015672" y="2722714"/>
            <a:ext cx="5177472" cy="435776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962408" y="1914626"/>
            <a:ext cx="6521233" cy="435776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한정된 시간으로 게임을 보여주기 위한 UX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20분내에 클리어 가능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저장 없음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오버를 통해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크게 성장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시켜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다시 도전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유도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정보를 시각적 표현(단순화)을 통해 학습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10"/>
          <p:cNvSpPr txBox="1"/>
          <p:nvPr>
            <p:ph idx="1" type="body"/>
          </p:nvPr>
        </p:nvSpPr>
        <p:spPr>
          <a:xfrm>
            <a:off x="788580" y="1253331"/>
            <a:ext cx="5101680" cy="44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프로젝트 특성상 해결해야 할 문제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전투 코스트 구조 설계</a:t>
            </a:r>
            <a:endParaRPr/>
          </a:p>
        </p:txBody>
      </p:sp>
      <p:sp>
        <p:nvSpPr>
          <p:cNvPr id="184" name="Google Shape;184;p11"/>
          <p:cNvSpPr txBox="1"/>
          <p:nvPr>
            <p:ph idx="1" type="body"/>
          </p:nvPr>
        </p:nvSpPr>
        <p:spPr>
          <a:xfrm>
            <a:off x="757872" y="2240791"/>
            <a:ext cx="667901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항상 부족하다고 느끼는 자원 량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한정된 수량으로 전략의 필요성 부여 할 수 있도록</a:t>
            </a:r>
            <a:endParaRPr sz="1200"/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자원간 상호작용	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자원의 효과는 서로 상호작용이 가능하도록 </a:t>
            </a:r>
            <a:endParaRPr sz="1200"/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선택의 무게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모든 자원은 선택지 간 기회비용을 발생시킴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코스트 보유량은 전략(전투) 난이도와 직결됨</a:t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5830601" y="2852928"/>
            <a:ext cx="1606290" cy="156353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부족한 자원</a:t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7867634" y="2852928"/>
            <a:ext cx="1606290" cy="156353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선택의 중요성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9904667" y="2852928"/>
            <a:ext cx="1606290" cy="156353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자원간 상호작용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757872" y="1205664"/>
            <a:ext cx="10515600" cy="469381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플레이어가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초반에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얻는 자원 지정을 위함 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전투 중 부여할 경험</a:t>
            </a:r>
            <a:endParaRPr/>
          </a:p>
        </p:txBody>
      </p:sp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6019800" y="1483988"/>
            <a:ext cx="667901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핵심 감정 키워드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호기심, 파악, 설계</a:t>
            </a:r>
            <a:r>
              <a:rPr lang="ko-KR" sz="1200"/>
              <a:t>, </a:t>
            </a:r>
            <a:r>
              <a:rPr lang="ko-KR" sz="1200"/>
              <a:t>쾌감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플레이어가 느껴야 할 상태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플레이어가  </a:t>
            </a:r>
            <a:r>
              <a:rPr lang="ko-KR" sz="1200"/>
              <a:t>적을 파악하고 이를 자신의 방법대로 처치할 떄의 쾌감 </a:t>
            </a:r>
            <a:endParaRPr sz="1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경험 설계 목표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전투 안에서 전략이 나오게 함!!!!!</a:t>
            </a:r>
            <a:endParaRPr sz="1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카드 사용 / 턴 운영 / 시너지 / 판단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캐릭터가 윤회하며 더욱 강해지는 </a:t>
            </a:r>
            <a:r>
              <a:rPr b="1" lang="ko-KR" sz="1200"/>
              <a:t>육성의 재미</a:t>
            </a:r>
            <a:endParaRPr sz="1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플레이어의 선택에 따라 달라지는 결과를 보는 </a:t>
            </a:r>
            <a:r>
              <a:rPr b="1" lang="ko-KR" sz="1200"/>
              <a:t>인지적 재미</a:t>
            </a:r>
            <a:endParaRPr sz="1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보스 및 어려운 도전을 클리어하는</a:t>
            </a:r>
            <a:r>
              <a:rPr b="1" lang="ko-KR" sz="1200"/>
              <a:t> 쾌감</a:t>
            </a:r>
            <a:endParaRPr b="1" sz="1200"/>
          </a:p>
        </p:txBody>
      </p:sp>
      <p:sp>
        <p:nvSpPr>
          <p:cNvPr id="195" name="Google Shape;195;p12"/>
          <p:cNvSpPr/>
          <p:nvPr/>
        </p:nvSpPr>
        <p:spPr>
          <a:xfrm>
            <a:off x="6306159" y="4709598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</a:t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7925546" y="4709598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코스트 관리</a:t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9590982" y="4709598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간단한 조작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98" name="Google Shape;198;p12"/>
          <p:cNvGraphicFramePr/>
          <p:nvPr/>
        </p:nvGraphicFramePr>
        <p:xfrm>
          <a:off x="712982" y="19207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{7A01947C-8B74-4403-B84A-DED373EAFA65}</a:tableStyleId>
              </a:tblPr>
              <a:tblGrid>
                <a:gridCol w="1222975"/>
                <a:gridCol w="3876075"/>
              </a:tblGrid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경험 종류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기획 목표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전략성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턴마다 ‘최적 수’를 고민하고 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긴장감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 패배 가능성이 열려 있는 상태 유지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통제감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운 요소가 존재하되, 극복 가능해야 함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인지적 재미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초반 선택이 후반 난이도에 직접 영향 (설계)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도파민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보스 처치라는 명확한 보상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99" name="Google Shape;199;p12"/>
          <p:cNvSpPr txBox="1"/>
          <p:nvPr/>
        </p:nvSpPr>
        <p:spPr>
          <a:xfrm>
            <a:off x="757872" y="1205664"/>
            <a:ext cx="10515600" cy="469381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보스를 첫 조우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전투 </a:t>
            </a:r>
            <a:r>
              <a:rPr b="1" lang="ko-KR"/>
              <a:t>스토리보드</a:t>
            </a:r>
            <a:endParaRPr/>
          </a:p>
        </p:txBody>
      </p:sp>
      <p:sp>
        <p:nvSpPr>
          <p:cNvPr id="205" name="Google Shape;205;p13"/>
          <p:cNvSpPr txBox="1"/>
          <p:nvPr/>
        </p:nvSpPr>
        <p:spPr>
          <a:xfrm>
            <a:off x="757872" y="1205664"/>
            <a:ext cx="10515600" cy="469381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경험 핵심 목표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757871" y="1706880"/>
            <a:ext cx="2750820" cy="43513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13"/>
          <p:cNvSpPr txBox="1"/>
          <p:nvPr>
            <p:ph idx="1" type="body"/>
          </p:nvPr>
        </p:nvSpPr>
        <p:spPr>
          <a:xfrm>
            <a:off x="560805" y="2920950"/>
            <a:ext cx="30591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아군의 </a:t>
            </a:r>
            <a:r>
              <a:rPr lang="ko-KR"/>
              <a:t>상황 확인</a:t>
            </a:r>
            <a:r>
              <a:rPr lang="ko-KR"/>
              <a:t> 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우선순위의 </a:t>
            </a:r>
            <a:r>
              <a:rPr lang="ko-KR"/>
              <a:t>적</a:t>
            </a:r>
            <a:r>
              <a:rPr lang="ko-KR"/>
              <a:t> 판단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사용 가능한 스킬 확인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키워드 연계 예상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888375" y="2105769"/>
            <a:ext cx="2489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확인</a:t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4720590" y="1706880"/>
            <a:ext cx="2750820" cy="43513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4462949" y="2920950"/>
            <a:ext cx="2994251" cy="291115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확인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공격할 대상 선택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사용할 스킬 선택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활성화된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키워드 확인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 선택완료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4851075" y="2105769"/>
            <a:ext cx="2489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8683309" y="1706880"/>
            <a:ext cx="2750820" cy="43513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8411458" y="2920950"/>
            <a:ext cx="2692440" cy="291115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사용 확인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스킬에 대한 결과 확인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결과에 따른 플레이어의 반응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전략 구상 또는 결과의 만족감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8813800" y="2105769"/>
            <a:ext cx="2489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 결과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3753853" y="3561347"/>
            <a:ext cx="832885" cy="56548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7716572" y="3561347"/>
            <a:ext cx="832885" cy="56548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>
            <a:off x="4858200" y="2137603"/>
            <a:ext cx="2489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각 스테이지별 경험</a:t>
            </a:r>
            <a:endParaRPr/>
          </a:p>
        </p:txBody>
      </p:sp>
      <p:sp>
        <p:nvSpPr>
          <p:cNvPr id="223" name="Google Shape;223;p14"/>
          <p:cNvSpPr txBox="1"/>
          <p:nvPr>
            <p:ph idx="1" type="body"/>
          </p:nvPr>
        </p:nvSpPr>
        <p:spPr>
          <a:xfrm>
            <a:off x="5681980" y="1923408"/>
            <a:ext cx="667901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선택의 강점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자신의 선택으로 피로도 조절 목적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핵심 재미요소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우연히 나오는 사건 스테이지는 전투를 하지 않기에 피로도를 낮춤</a:t>
            </a:r>
            <a:endParaRPr sz="1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좋은 보상을 얻는 대신 전투를 진행할지 선택</a:t>
            </a:r>
            <a:endParaRPr sz="1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/>
              <a:t>전투에서의 설계로 피로도가 쌓였을 </a:t>
            </a:r>
            <a:r>
              <a:rPr lang="ko-KR" sz="1200"/>
              <a:t>때</a:t>
            </a:r>
            <a:r>
              <a:rPr lang="ko-KR" sz="1200"/>
              <a:t> 약간 휴식하는 용도 </a:t>
            </a:r>
            <a:endParaRPr b="1" sz="1200"/>
          </a:p>
        </p:txBody>
      </p:sp>
      <p:sp>
        <p:nvSpPr>
          <p:cNvPr id="224" name="Google Shape;224;p14"/>
          <p:cNvSpPr/>
          <p:nvPr/>
        </p:nvSpPr>
        <p:spPr>
          <a:xfrm>
            <a:off x="6222339" y="5250618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행운</a:t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7841726" y="5250618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피로도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9507162" y="5250618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 선택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7" name="Google Shape;227;p14"/>
          <p:cNvPicPr preferRelativeResize="0"/>
          <p:nvPr/>
        </p:nvPicPr>
        <p:blipFill rotWithShape="1">
          <a:blip r:embed="rId3">
            <a:alphaModFix/>
          </a:blip>
          <a:srcRect b="41475" l="47312" r="7535" t="40000"/>
          <a:stretch/>
        </p:blipFill>
        <p:spPr>
          <a:xfrm>
            <a:off x="1052646" y="2983205"/>
            <a:ext cx="3863340" cy="89159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4"/>
          <p:cNvSpPr txBox="1"/>
          <p:nvPr/>
        </p:nvSpPr>
        <p:spPr>
          <a:xfrm>
            <a:off x="757872" y="1205664"/>
            <a:ext cx="10515600" cy="469381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노드에서 스테이지를 선택하게 함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757871" y="1706880"/>
            <a:ext cx="2750820" cy="43513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15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로그라이트 동기 구조</a:t>
            </a:r>
            <a:endParaRPr/>
          </a:p>
        </p:txBody>
      </p:sp>
      <p:sp>
        <p:nvSpPr>
          <p:cNvPr id="235" name="Google Shape;235;p15"/>
          <p:cNvSpPr txBox="1"/>
          <p:nvPr>
            <p:ph idx="1" type="body"/>
          </p:nvPr>
        </p:nvSpPr>
        <p:spPr>
          <a:xfrm>
            <a:off x="757871" y="2924919"/>
            <a:ext cx="2489825" cy="291115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전투 생존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다음 보상 획득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888368" y="2105768"/>
            <a:ext cx="2489825" cy="291115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단기 동기</a:t>
            </a: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4720590" y="1706880"/>
            <a:ext cx="2750820" cy="43513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4525255" y="2920950"/>
            <a:ext cx="2994251" cy="291115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 완성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돌파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자신만의 전략 설정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4851087" y="2105768"/>
            <a:ext cx="2489825" cy="291115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중기 동기</a:t>
            </a:r>
            <a:endParaRPr/>
          </a:p>
        </p:txBody>
      </p:sp>
      <p:sp>
        <p:nvSpPr>
          <p:cNvPr id="240" name="Google Shape;240;p15"/>
          <p:cNvSpPr/>
          <p:nvPr/>
        </p:nvSpPr>
        <p:spPr>
          <a:xfrm>
            <a:off x="8683309" y="1706880"/>
            <a:ext cx="2750820" cy="43513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8556166" y="2976557"/>
            <a:ext cx="2692440" cy="291115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클리어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적을 양학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보지 못한 보스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캐릭터 성장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8813806" y="2105768"/>
            <a:ext cx="2489825" cy="291115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장기 동기</a:t>
            </a: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3753853" y="3561347"/>
            <a:ext cx="832885" cy="56548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7716572" y="3561347"/>
            <a:ext cx="832885" cy="56548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2026-02-11T10:49:17Z</dcterms:created>
  <dc:creator>HIRONARI HATA</dc:creator>
</cp:coreProperties>
</file>